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828800" cy="29260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OPEN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4572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2CFFF"/>
                </a:solidFill>
                <a:latin typeface="Calibri"/>
              </a:rPr>
              <a:t>·  VISION DECK — WHERE THIS GOES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The production process is the 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A8B3C5"/>
                </a:solidFill>
                <a:latin typeface="Calibri"/>
              </a:rPr>
              <a:t>AI-native creative studio where every decision is permanent, inspectable, and reversible.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97680"/>
            <a:ext cx="365760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297680"/>
            <a:ext cx="54864" cy="1280160"/>
          </a:xfrm>
          <a:prstGeom prst="rect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434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2CFFF"/>
                </a:solidFill>
                <a:latin typeface="Calibri"/>
              </a:rP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7091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The video is a byproduct of a captured, replayable production state.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166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8B3C5"/>
                </a:solidFill>
                <a:latin typeface="Calibri"/>
              </a:rPr>
              <a:t>The production is the artifact, not the file.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1104" y="4297680"/>
            <a:ext cx="365760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1104" y="4297680"/>
            <a:ext cx="54864" cy="1280160"/>
          </a:xfrm>
          <a:prstGeom prst="rect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4434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2CFFF"/>
                </a:solidFill>
                <a:latin typeface="Calibri"/>
              </a:rPr>
              <a:t>PRODUCTION-DOC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47091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Every decision lives in an immutable event log. Diffable. Shareable.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5166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8B3C5"/>
                </a:solidFill>
                <a:latin typeface="Calibri"/>
              </a:rPr>
              <a:t>Audit trail is the source of truth.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4297680"/>
            <a:ext cx="365760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4297680"/>
            <a:ext cx="54864" cy="1280160"/>
          </a:xfrm>
          <a:prstGeom prst="rect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434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2CFFF"/>
                </a:solidFill>
                <a:latin typeface="Calibri"/>
              </a:rPr>
              <a:t>PLUG-IN SURFACE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47091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Medium-blind kernel. Video. Research writing. Whatever ships next.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5166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8B3C5"/>
                </a:solidFill>
                <a:latin typeface="Calibri"/>
              </a:rPr>
              <a:t>Built once, extends infinitely.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787"/>
                </a:solidFill>
                <a:latin typeface="Calibri"/>
              </a:rPr>
              <a:t>5 slides · vision · architecture · principles ·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463040" cy="20116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OPEN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6576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2CFFF"/>
                </a:solidFill>
                <a:latin typeface="Calibri"/>
              </a:rPr>
              <a:t>·  VISION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Every AI video tool treats generation as the product.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74552" cy="8000"/>
          </a:xfrm>
          <a:prstGeom prst="rect">
            <a:avLst/>
          </a:prstGeom>
          <a:solidFill>
            <a:srgbClr val="2A3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2CFFF"/>
                </a:solidFill>
                <a:latin typeface="Calibri"/>
              </a:rPr>
              <a:t>THE PATTERN THEY ALL SHARE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3291840" cy="1371600"/>
          </a:xfrm>
          <a:prstGeom prst="rect">
            <a:avLst/>
          </a:prstGeom>
          <a:solidFill>
            <a:srgbClr val="161B22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Prompt  →  Generate  →  Evaluate  →  Re-prompt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A8B3C5"/>
                </a:solidFill>
                <a:latin typeface="Calibri"/>
              </a:rPr>
              <a:t>a feedback loop, not a production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69164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2CFFF"/>
                </a:solidFill>
                <a:latin typeface="Calibri"/>
              </a:rPr>
              <a:t>WHAT REAL PRODUCTION ACTUALLY 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2148840"/>
            <a:ext cx="1554480" cy="256032"/>
          </a:xfrm>
          <a:prstGeom prst="rect">
            <a:avLst/>
          </a:prstGeom>
          <a:solidFill>
            <a:srgbClr val="0D1117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214884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2CFFF"/>
                </a:solidFill>
                <a:latin typeface="Calibri"/>
              </a:rPr>
              <a:t>1.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167128"/>
            <a:ext cx="6126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what do we want to say?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2441448"/>
            <a:ext cx="1554480" cy="256032"/>
          </a:xfrm>
          <a:prstGeom prst="rect">
            <a:avLst/>
          </a:prstGeom>
          <a:solidFill>
            <a:srgbClr val="0D1117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2441448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2CFFF"/>
                </a:solidFill>
                <a:latin typeface="Calibri"/>
              </a:rPr>
              <a:t>2. 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459736"/>
            <a:ext cx="6126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what does it look and feel like?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2734056"/>
            <a:ext cx="1554480" cy="256032"/>
          </a:xfrm>
          <a:prstGeom prst="rect">
            <a:avLst/>
          </a:prstGeom>
          <a:solidFill>
            <a:srgbClr val="0D1117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2734056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2CFFF"/>
                </a:solidFill>
                <a:latin typeface="Calibri"/>
              </a:rPr>
              <a:t>3.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752344"/>
            <a:ext cx="6126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how is it organized?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3026664"/>
            <a:ext cx="1554480" cy="256032"/>
          </a:xfrm>
          <a:prstGeom prst="rect">
            <a:avLst/>
          </a:prstGeom>
          <a:solidFill>
            <a:srgbClr val="0D1117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0" y="302666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2CFFF"/>
                </a:solidFill>
                <a:latin typeface="Calibri"/>
              </a:rPr>
              <a:t>4. Execution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044952"/>
            <a:ext cx="6126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how is it made?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3319272"/>
            <a:ext cx="1554480" cy="256032"/>
          </a:xfrm>
          <a:prstGeom prst="rect">
            <a:avLst/>
          </a:prstGeom>
          <a:solidFill>
            <a:srgbClr val="0D1117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331927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2CFFF"/>
                </a:solidFill>
                <a:latin typeface="Calibri"/>
              </a:rPr>
              <a:t>5. 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3337560"/>
            <a:ext cx="6126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does it say what we wanted?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0" y="3611880"/>
            <a:ext cx="1554480" cy="256032"/>
          </a:xfrm>
          <a:prstGeom prst="rect">
            <a:avLst/>
          </a:prstGeom>
          <a:solidFill>
            <a:srgbClr val="0D1117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0" y="361188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2CFFF"/>
                </a:solidFill>
                <a:latin typeface="Calibri"/>
              </a:rPr>
              <a:t>6. Iteration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3630168"/>
            <a:ext cx="6126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what changes?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3904488"/>
            <a:ext cx="1554480" cy="256032"/>
          </a:xfrm>
          <a:prstGeom prst="rect">
            <a:avLst/>
          </a:prstGeom>
          <a:solidFill>
            <a:srgbClr val="0D1117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0" y="3904488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2CFFF"/>
                </a:solidFill>
                <a:latin typeface="Calibri"/>
              </a:rPr>
              <a:t>7. Publication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3922776"/>
            <a:ext cx="6126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who sees it?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120640"/>
            <a:ext cx="11274552" cy="1097280"/>
          </a:xfrm>
          <a:prstGeom prst="rect">
            <a:avLst/>
          </a:prstGeom>
          <a:solidFill>
            <a:srgbClr val="161B22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120640"/>
            <a:ext cx="73152" cy="1097280"/>
          </a:xfrm>
          <a:prstGeom prst="rect">
            <a:avLst/>
          </a:prstGeom>
          <a:solidFill>
            <a:srgbClr val="EE5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257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Most products model only step 4 (execution). Some add step 5 (evaluation).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623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2CFFF"/>
                </a:solidFill>
                <a:latin typeface="Calibri"/>
              </a:rPr>
              <a:t>None model steps 1–3 as first-class citizens. That's the gap we ship into.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787"/>
                </a:solidFill>
                <a:latin typeface="Calibri"/>
              </a:rPr>
              <a:t>Open Production · Production-Document-First Creative Studio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78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1828800" cy="25603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OPEN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743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2CFFF"/>
                </a:solidFill>
                <a:latin typeface="Calibri"/>
              </a:rPr>
              <a:t>·  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731520"/>
            <a:ext cx="3657600" cy="5486400"/>
          </a:xfrm>
          <a:prstGeom prst="rect">
            <a:avLst/>
          </a:prstGeom>
          <a:solidFill>
            <a:srgbClr val="161B22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731520"/>
            <a:ext cx="3657600" cy="457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8229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VIDEO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8229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2CFFF"/>
                </a:solidFill>
                <a:latin typeface="Calibri"/>
              </a:rPr>
              <a:t>26 stages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371600"/>
            <a:ext cx="713232" cy="292608"/>
          </a:xfrm>
          <a:prstGeom prst="rect">
            <a:avLst/>
          </a:prstGeom>
          <a:solidFill>
            <a:srgbClr val="0D1117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71600"/>
            <a:ext cx="7132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Idea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61872" y="1499616"/>
            <a:ext cx="64008" cy="36576"/>
          </a:xfrm>
          <a:prstGeom prst="rect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6444" y="1444752"/>
            <a:ext cx="146304" cy="146304"/>
          </a:xfrm>
          <a:prstGeom prst="ellipse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53312" y="1371600"/>
            <a:ext cx="713232" cy="292608"/>
          </a:xfrm>
          <a:prstGeom prst="rect">
            <a:avLst/>
          </a:prstGeom>
          <a:solidFill>
            <a:srgbClr val="0D1117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53312" y="1371600"/>
            <a:ext cx="7132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Script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66544" y="1499616"/>
            <a:ext cx="64008" cy="36576"/>
          </a:xfrm>
          <a:prstGeom prst="rect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71116" y="1444752"/>
            <a:ext cx="146304" cy="146304"/>
          </a:xfrm>
          <a:prstGeom prst="ellipse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7984" y="1371600"/>
            <a:ext cx="713232" cy="292608"/>
          </a:xfrm>
          <a:prstGeom prst="rect">
            <a:avLst/>
          </a:prstGeom>
          <a:solidFill>
            <a:srgbClr val="0D1117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57984" y="1371600"/>
            <a:ext cx="7132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Shot plan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71216" y="1499616"/>
            <a:ext cx="64008" cy="36576"/>
          </a:xfrm>
          <a:prstGeom prst="rect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875788" y="1444752"/>
            <a:ext cx="146304" cy="146304"/>
          </a:xfrm>
          <a:prstGeom prst="ellipse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62656" y="1371600"/>
            <a:ext cx="713232" cy="292608"/>
          </a:xfrm>
          <a:prstGeom prst="rect">
            <a:avLst/>
          </a:prstGeom>
          <a:solidFill>
            <a:srgbClr val="0D1117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62656" y="1371600"/>
            <a:ext cx="7132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Generate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1874520"/>
            <a:ext cx="713232" cy="292608"/>
          </a:xfrm>
          <a:prstGeom prst="rect">
            <a:avLst/>
          </a:prstGeom>
          <a:solidFill>
            <a:srgbClr val="0D1117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1874520"/>
            <a:ext cx="7132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Edit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61872" y="2002536"/>
            <a:ext cx="64008" cy="36576"/>
          </a:xfrm>
          <a:prstGeom prst="rect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266444" y="1947672"/>
            <a:ext cx="146304" cy="146304"/>
          </a:xfrm>
          <a:prstGeom prst="ellipse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53312" y="1874520"/>
            <a:ext cx="713232" cy="292608"/>
          </a:xfrm>
          <a:prstGeom prst="rect">
            <a:avLst/>
          </a:prstGeom>
          <a:solidFill>
            <a:srgbClr val="0D1117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53312" y="1874520"/>
            <a:ext cx="7132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Color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66544" y="2002536"/>
            <a:ext cx="64008" cy="36576"/>
          </a:xfrm>
          <a:prstGeom prst="rect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71116" y="1947672"/>
            <a:ext cx="146304" cy="146304"/>
          </a:xfrm>
          <a:prstGeom prst="ellipse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57984" y="1874520"/>
            <a:ext cx="713232" cy="292608"/>
          </a:xfrm>
          <a:prstGeom prst="rect">
            <a:avLst/>
          </a:prstGeom>
          <a:solidFill>
            <a:srgbClr val="0D1117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57984" y="1874520"/>
            <a:ext cx="7132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Music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71216" y="2002536"/>
            <a:ext cx="64008" cy="36576"/>
          </a:xfrm>
          <a:prstGeom prst="rect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875788" y="1947672"/>
            <a:ext cx="146304" cy="146304"/>
          </a:xfrm>
          <a:prstGeom prst="ellipse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962656" y="1874520"/>
            <a:ext cx="713232" cy="292608"/>
          </a:xfrm>
          <a:prstGeom prst="rect">
            <a:avLst/>
          </a:prstGeom>
          <a:solidFill>
            <a:srgbClr val="0D1117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62656" y="1874520"/>
            <a:ext cx="7132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Publish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331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B7787"/>
                </a:solidFill>
                <a:latin typeface="Calibri"/>
              </a:rPr>
              <a:t>+ 18 more stages, all gated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269748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2CFFF"/>
                </a:solidFill>
                <a:latin typeface="Calibri"/>
              </a:rPr>
              <a:t>AGENTS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2971800"/>
            <a:ext cx="1234440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297180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Creative Dir.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37944" y="2971800"/>
            <a:ext cx="1234440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37944" y="297180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Shot Designer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27248" y="2971800"/>
            <a:ext cx="914400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27248" y="2971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Editor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96512" y="2971800"/>
            <a:ext cx="1005840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EE5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96512" y="2971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Reviewer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57216" y="2971800"/>
            <a:ext cx="1051560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57216" y="29718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Publisher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3429000"/>
            <a:ext cx="3291840" cy="1463040"/>
          </a:xfrm>
          <a:prstGeom prst="rect">
            <a:avLst/>
          </a:prstGeom>
          <a:solidFill>
            <a:srgbClr val="0D1117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352044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1C21B"/>
                </a:solidFill>
                <a:latin typeface="Calibri"/>
              </a:rPr>
              <a:t>DIFFERENTIATOR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3749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Consistency Contract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406908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8B3C5"/>
                </a:solidFill>
                <a:latin typeface="Calibri"/>
              </a:rPr>
              <a:t>Every character and environment has a formal spec —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8B3C5"/>
                </a:solidFill>
                <a:latin typeface="Calibri"/>
              </a:rPr>
              <a:t>visual anchors, required/prohibited attributes,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8B3C5"/>
                </a:solidFill>
                <a:latin typeface="Calibri"/>
              </a:rPr>
              <a:t>variance tolerance. Gated by Reviewer.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06240" y="868680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82CFFF"/>
                </a:solidFill>
                <a:latin typeface="Calibri"/>
              </a:rPr>
              <a:t>AUDIT TRAIL · EVENT LOG · STATE MACHINE</a:t>
            </a:r>
          </a:p>
        </p:txBody>
      </p:sp>
      <p:sp>
        <p:nvSpPr>
          <p:cNvPr id="56" name="Oval 55"/>
          <p:cNvSpPr/>
          <p:nvPr/>
        </p:nvSpPr>
        <p:spPr>
          <a:xfrm>
            <a:off x="3931920" y="1645920"/>
            <a:ext cx="3108960" cy="3108960"/>
          </a:xfrm>
          <a:prstGeom prst="ellipse">
            <a:avLst/>
          </a:prstGeom>
          <a:noFill/>
          <a:ln w="6350">
            <a:solidFill>
              <a:srgbClr val="2A3548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5486400.0" y="2286000.0"/>
            <a:ext cx="869646.0785002885" cy="631834.860343548"/>
          </a:xfrm>
          <a:prstGeom prst="line">
            <a:avLst/>
          </a:prstGeom>
          <a:ln w="6350">
            <a:solidFill>
              <a:srgbClr val="82C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6023870.834696237" y="2917834.860343548"/>
            <a:ext cx="332175.24380405154" cy="1022330.279312904"/>
          </a:xfrm>
          <a:prstGeom prst="line">
            <a:avLst/>
          </a:prstGeom>
          <a:ln w="6350">
            <a:solidFill>
              <a:srgbClr val="82C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4948929.165303763" y="3940165.139656452"/>
            <a:ext cx="1074941.669392474" cy="0.0"/>
          </a:xfrm>
          <a:prstGeom prst="line">
            <a:avLst/>
          </a:prstGeom>
          <a:ln w="6350">
            <a:solidFill>
              <a:srgbClr val="82C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4616753.921499711" y="2917834.860343548"/>
            <a:ext cx="332175.24380405154" cy="1022330.279312904"/>
          </a:xfrm>
          <a:prstGeom prst="line">
            <a:avLst/>
          </a:prstGeom>
          <a:ln w="6350">
            <a:solidFill>
              <a:srgbClr val="82C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616753.921499711" y="2286000.0"/>
            <a:ext cx="869646.0785002885" cy="631834.860343548"/>
          </a:xfrm>
          <a:prstGeom prst="line">
            <a:avLst/>
          </a:prstGeom>
          <a:ln w="6350">
            <a:solidFill>
              <a:srgbClr val="82C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230368" y="2029968"/>
            <a:ext cx="512064" cy="512064"/>
          </a:xfrm>
          <a:prstGeom prst="ellipse">
            <a:avLst/>
          </a:prstGeom>
          <a:solidFill>
            <a:srgbClr val="0F62FE"/>
          </a:solidFill>
          <a:ln w="9525">
            <a:solidFill>
              <a:srgbClr val="82C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0" y="21671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64" name="Oval 63"/>
          <p:cNvSpPr/>
          <p:nvPr/>
        </p:nvSpPr>
        <p:spPr>
          <a:xfrm>
            <a:off x="6100014" y="2661802"/>
            <a:ext cx="512064" cy="512064"/>
          </a:xfrm>
          <a:prstGeom prst="ellipse">
            <a:avLst/>
          </a:prstGeom>
          <a:solidFill>
            <a:srgbClr val="0F62FE"/>
          </a:solidFill>
          <a:ln w="9525">
            <a:solidFill>
              <a:srgbClr val="82C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98846" y="279896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Transform</a:t>
            </a:r>
          </a:p>
        </p:txBody>
      </p:sp>
      <p:sp>
        <p:nvSpPr>
          <p:cNvPr id="66" name="Oval 65"/>
          <p:cNvSpPr/>
          <p:nvPr/>
        </p:nvSpPr>
        <p:spPr>
          <a:xfrm>
            <a:off x="5767838" y="3684133"/>
            <a:ext cx="512064" cy="512064"/>
          </a:xfrm>
          <a:prstGeom prst="ellipse">
            <a:avLst/>
          </a:prstGeom>
          <a:solidFill>
            <a:srgbClr val="0F62FE"/>
          </a:solidFill>
          <a:ln w="9525">
            <a:solidFill>
              <a:srgbClr val="82C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66670" y="3821293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Composition</a:t>
            </a:r>
          </a:p>
        </p:txBody>
      </p:sp>
      <p:sp>
        <p:nvSpPr>
          <p:cNvPr id="68" name="Oval 67"/>
          <p:cNvSpPr/>
          <p:nvPr/>
        </p:nvSpPr>
        <p:spPr>
          <a:xfrm>
            <a:off x="4692897" y="3684133"/>
            <a:ext cx="512064" cy="512064"/>
          </a:xfrm>
          <a:prstGeom prst="ellipse">
            <a:avLst/>
          </a:prstGeom>
          <a:solidFill>
            <a:srgbClr val="0F62FE"/>
          </a:solidFill>
          <a:ln w="9525">
            <a:solidFill>
              <a:srgbClr val="82C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491729" y="3821293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70" name="Oval 69"/>
          <p:cNvSpPr/>
          <p:nvPr/>
        </p:nvSpPr>
        <p:spPr>
          <a:xfrm>
            <a:off x="4360721" y="2661802"/>
            <a:ext cx="512064" cy="512064"/>
          </a:xfrm>
          <a:prstGeom prst="ellipse">
            <a:avLst/>
          </a:prstGeom>
          <a:solidFill>
            <a:srgbClr val="0F62FE"/>
          </a:solidFill>
          <a:ln w="9525">
            <a:solidFill>
              <a:srgbClr val="82C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59553" y="279896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Intent</a:t>
            </a:r>
          </a:p>
        </p:txBody>
      </p:sp>
      <p:sp>
        <p:nvSpPr>
          <p:cNvPr id="72" name="Oval 71"/>
          <p:cNvSpPr/>
          <p:nvPr/>
        </p:nvSpPr>
        <p:spPr>
          <a:xfrm>
            <a:off x="4983480" y="2697480"/>
            <a:ext cx="1005840" cy="1005840"/>
          </a:xfrm>
          <a:prstGeom prst="ellipse">
            <a:avLst/>
          </a:prstGeom>
          <a:solidFill>
            <a:srgbClr val="0A0C1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29200" y="290779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KERNEL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0" y="3108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82CFFF"/>
                </a:solidFill>
                <a:latin typeface="Calibri"/>
              </a:rPr>
              <a:t>five primitives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0" y="327355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6B7787"/>
                </a:solidFill>
                <a:latin typeface="Calibri"/>
              </a:rPr>
              <a:t>medium-blind</a:t>
            </a:r>
          </a:p>
        </p:txBody>
      </p:sp>
      <p:cxnSp>
        <p:nvCxnSpPr>
          <p:cNvPr id="76" name="Connector 75"/>
          <p:cNvCxnSpPr/>
          <p:nvPr/>
        </p:nvCxnSpPr>
        <p:spPr>
          <a:xfrm flipH="1">
            <a:off x="3703320" y="3200400"/>
            <a:ext cx="411480" cy="0"/>
          </a:xfrm>
          <a:prstGeom prst="line">
            <a:avLst/>
          </a:prstGeom>
          <a:ln w="12700">
            <a:solidFill>
              <a:srgbClr val="82CFFF"/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040880" y="3200400"/>
            <a:ext cx="411480" cy="0"/>
          </a:xfrm>
          <a:prstGeom prst="line">
            <a:avLst/>
          </a:prstGeom>
          <a:ln w="12700">
            <a:solidFill>
              <a:srgbClr val="82CFFF"/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3291840" y="28803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82CFFF"/>
                </a:solidFill>
                <a:latin typeface="Calibri"/>
              </a:rPr>
              <a:t>PLUG-IN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91840" y="3108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82CFFF"/>
                </a:solidFill>
                <a:latin typeface="Calibri"/>
              </a:rPr>
              <a:t>SURFACE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8803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82CFFF"/>
                </a:solidFill>
                <a:latin typeface="Calibri"/>
              </a:rPr>
              <a:t>PLUG-IN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69680" y="3108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82CFFF"/>
                </a:solidFill>
                <a:latin typeface="Calibri"/>
              </a:rPr>
              <a:t>SURFACE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165592" y="731520"/>
            <a:ext cx="3657600" cy="5486400"/>
          </a:xfrm>
          <a:prstGeom prst="rect">
            <a:avLst/>
          </a:prstGeom>
          <a:solidFill>
            <a:srgbClr val="161B22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165592" y="731520"/>
            <a:ext cx="3657600" cy="457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48472" y="8229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RESEARCH WRITING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08792" y="8229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82CFFF"/>
                </a:solidFill>
                <a:latin typeface="Calibri"/>
              </a:rPr>
              <a:t>7 stages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348472" y="1371600"/>
            <a:ext cx="713232" cy="292608"/>
          </a:xfrm>
          <a:prstGeom prst="rect">
            <a:avLst/>
          </a:prstGeom>
          <a:solidFill>
            <a:srgbClr val="0D1117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48472" y="1371600"/>
            <a:ext cx="7132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Frame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61704" y="1499616"/>
            <a:ext cx="64008" cy="36576"/>
          </a:xfrm>
          <a:prstGeom prst="rect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066276" y="1444752"/>
            <a:ext cx="146304" cy="146304"/>
          </a:xfrm>
          <a:prstGeom prst="ellipse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153144" y="1371600"/>
            <a:ext cx="713232" cy="292608"/>
          </a:xfrm>
          <a:prstGeom prst="rect">
            <a:avLst/>
          </a:prstGeom>
          <a:solidFill>
            <a:srgbClr val="0D1117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153144" y="1371600"/>
            <a:ext cx="7132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Outline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866376" y="1499616"/>
            <a:ext cx="64008" cy="36576"/>
          </a:xfrm>
          <a:prstGeom prst="rect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870948" y="1444752"/>
            <a:ext cx="146304" cy="146304"/>
          </a:xfrm>
          <a:prstGeom prst="ellipse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957816" y="1371600"/>
            <a:ext cx="713232" cy="292608"/>
          </a:xfrm>
          <a:prstGeom prst="rect">
            <a:avLst/>
          </a:prstGeom>
          <a:solidFill>
            <a:srgbClr val="0D1117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957816" y="1371600"/>
            <a:ext cx="7132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Draft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671048" y="1499616"/>
            <a:ext cx="64008" cy="36576"/>
          </a:xfrm>
          <a:prstGeom prst="rect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675620" y="1444752"/>
            <a:ext cx="146304" cy="146304"/>
          </a:xfrm>
          <a:prstGeom prst="ellipse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762488" y="1371600"/>
            <a:ext cx="713232" cy="292608"/>
          </a:xfrm>
          <a:prstGeom prst="rect">
            <a:avLst/>
          </a:prstGeom>
          <a:solidFill>
            <a:srgbClr val="0D1117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762488" y="1371600"/>
            <a:ext cx="7132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Critique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348472" y="1874520"/>
            <a:ext cx="713232" cy="292608"/>
          </a:xfrm>
          <a:prstGeom prst="rect">
            <a:avLst/>
          </a:prstGeom>
          <a:solidFill>
            <a:srgbClr val="0D1117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48472" y="1874520"/>
            <a:ext cx="7132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Revise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061704" y="2002536"/>
            <a:ext cx="64008" cy="36576"/>
          </a:xfrm>
          <a:prstGeom prst="rect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9066276" y="1947672"/>
            <a:ext cx="146304" cy="146304"/>
          </a:xfrm>
          <a:prstGeom prst="ellipse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53144" y="1874520"/>
            <a:ext cx="713232" cy="292608"/>
          </a:xfrm>
          <a:prstGeom prst="rect">
            <a:avLst/>
          </a:prstGeom>
          <a:solidFill>
            <a:srgbClr val="0D1117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153144" y="1874520"/>
            <a:ext cx="7132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Verify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866376" y="2002536"/>
            <a:ext cx="64008" cy="36576"/>
          </a:xfrm>
          <a:prstGeom prst="rect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870948" y="1947672"/>
            <a:ext cx="146304" cy="146304"/>
          </a:xfrm>
          <a:prstGeom prst="ellipse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957816" y="1874520"/>
            <a:ext cx="713232" cy="292608"/>
          </a:xfrm>
          <a:prstGeom prst="rect">
            <a:avLst/>
          </a:prstGeom>
          <a:solidFill>
            <a:srgbClr val="0D1117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957816" y="1874520"/>
            <a:ext cx="7132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Publish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48472" y="23317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2CFFF"/>
                </a:solidFill>
                <a:latin typeface="Calibri"/>
              </a:rPr>
              <a:t>AGENTS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348472" y="2606040"/>
            <a:ext cx="868680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348472" y="260604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Reframer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272016" y="2606040"/>
            <a:ext cx="868680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272016" y="260604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Outliner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195560" y="2606040"/>
            <a:ext cx="822960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195560" y="26060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Drafter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073384" y="2606040"/>
            <a:ext cx="777240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EE5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073384" y="260604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Critic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1905488" y="2606040"/>
            <a:ext cx="914400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0F6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1905488" y="26060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Publisher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348472" y="3063240"/>
            <a:ext cx="3291840" cy="1463040"/>
          </a:xfrm>
          <a:prstGeom prst="rect">
            <a:avLst/>
          </a:prstGeom>
          <a:solidFill>
            <a:srgbClr val="0D1117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439912" y="315468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1C21B"/>
                </a:solidFill>
                <a:latin typeface="Calibri"/>
              </a:rPr>
              <a:t>DIFFERENTIATOR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439912" y="33832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Production Document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439912" y="370332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8B3C5"/>
                </a:solidFill>
                <a:latin typeface="Calibri"/>
              </a:rPr>
              <a:t>Every decision is an event in an immutable log.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8B3C5"/>
                </a:solidFill>
                <a:latin typeface="Calibri"/>
              </a:rPr>
              <a:t>The current state is a function of the log.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8B3C5"/>
                </a:solidFill>
                <a:latin typeface="Calibri"/>
              </a:rPr>
              <a:t>Diffable, shareable, replayable.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65760" y="61264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2CFFF"/>
                </a:solidFill>
                <a:latin typeface="Calibri"/>
              </a:rPr>
              <a:t>FIVE PRODUCTION-DOCUMENT-FIRST DIFFERENTIATORS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5760" y="6400800"/>
            <a:ext cx="292608" cy="29260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65760" y="64008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31520" y="6437376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Production Document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743200" y="6400800"/>
            <a:ext cx="292608" cy="29260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743200" y="64008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108960" y="6437376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Consistency Contract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120640" y="6400800"/>
            <a:ext cx="292608" cy="29260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120640" y="64008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486400" y="6437376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Crew Model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498080" y="6400800"/>
            <a:ext cx="292608" cy="29260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498080" y="64008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863840" y="6437376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Gates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875520" y="6400800"/>
            <a:ext cx="292608" cy="292608"/>
          </a:xfrm>
          <a:prstGeom prst="rect">
            <a:avLst/>
          </a:prstGeom>
          <a:solidFill>
            <a:srgbClr val="EE5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875520" y="64008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241280" y="6437376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Reviewer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463040" cy="20116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OPEN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6576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2CFFF"/>
                </a:solidFill>
                <a:latin typeface="Calibri"/>
              </a:rPr>
              <a:t>·  VISION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Five laws. Three axioms. Eight things we will never build.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74552" cy="8000"/>
          </a:xfrm>
          <a:prstGeom prst="rect">
            <a:avLst/>
          </a:prstGeom>
          <a:solidFill>
            <a:srgbClr val="2A3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2CFFF"/>
                </a:solidFill>
                <a:latin typeface="Calibri"/>
              </a:rPr>
              <a:t>THE FIVE LAWS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116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Generation is a service call, not a product.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317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A8B3C5"/>
                </a:solidFill>
                <a:latin typeface="Calibri"/>
              </a:rPr>
              <a:t>Plan first. Generation is the slowest, most expensive, least interesting step.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70632"/>
            <a:ext cx="457200" cy="457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706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72491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Nothing is final until the user says so.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04495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A8B3C5"/>
                </a:solidFill>
                <a:latin typeface="Calibri"/>
              </a:rPr>
              <a:t>Every lock is explicit. Every unlock is possible.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83864"/>
            <a:ext cx="457200" cy="457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8386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43814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Every decision has a reason.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75818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A8B3C5"/>
                </a:solidFill>
                <a:latin typeface="Calibri"/>
              </a:rPr>
              <a:t>Capture why alongside what. The audit trail is the product.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97096"/>
            <a:ext cx="457200" cy="457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19709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15137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Beginners and professionals use the same engine.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471416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A8B3C5"/>
                </a:solidFill>
                <a:latin typeface="Calibri"/>
              </a:rPr>
              <a:t>Different views. Same model underneath.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10328"/>
            <a:ext cx="457200" cy="457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910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86460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The AI earns autonomy incrementally.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18464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A8B3C5"/>
                </a:solidFill>
                <a:latin typeface="Calibri"/>
              </a:rPr>
              <a:t>Propose, never execute without approval. Trust is earned, not assumed.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6916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E5396"/>
                </a:solidFill>
                <a:latin typeface="Calibri"/>
              </a:rPr>
              <a:t>FEATURES THAT WILL NEVER BE ADDED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057400"/>
            <a:ext cx="274320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EE5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057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EE5396"/>
                </a:solidFill>
                <a:latin typeface="Calibri"/>
              </a:rPr>
              <a:t>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203911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Magic button one-shot production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441448"/>
            <a:ext cx="274320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EE5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4414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EE5396"/>
                </a:solidFill>
                <a:latin typeface="Calibri"/>
              </a:rPr>
              <a:t>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4231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Auto-publish without human approval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825496"/>
            <a:ext cx="274320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EE5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28254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EE5396"/>
                </a:solidFill>
                <a:latin typeface="Calibri"/>
              </a:rPr>
              <a:t>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280720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Prompt history as production history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209544"/>
            <a:ext cx="274320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EE5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2095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EE5396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319125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AI-generated brand kits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593592"/>
            <a:ext cx="274320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EE5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5935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EE5396"/>
                </a:solidFill>
                <a:latin typeface="Calibri"/>
              </a:rPr>
              <a:t>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3575304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Irreversible operations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3977640"/>
            <a:ext cx="274320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EE5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39776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EE5396"/>
                </a:solidFill>
                <a:latin typeface="Calibri"/>
              </a:rPr>
              <a:t>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395935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Hidden AI decisions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4361688"/>
            <a:ext cx="274320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EE5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3616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EE5396"/>
                </a:solidFill>
                <a:latin typeface="Calibri"/>
              </a:rPr>
              <a:t>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43434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Gamification of production metrics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4745736"/>
            <a:ext cx="274320" cy="274320"/>
          </a:xfrm>
          <a:prstGeom prst="rect">
            <a:avLst/>
          </a:prstGeom>
          <a:solidFill>
            <a:srgbClr val="0D1117"/>
          </a:solidFill>
          <a:ln w="9525">
            <a:solidFill>
              <a:srgbClr val="EE5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47457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EE5396"/>
                </a:solidFill>
                <a:latin typeface="Calibri"/>
              </a:rPr>
              <a:t>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80" y="472744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Cross-production content leakage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715000"/>
            <a:ext cx="11274552" cy="548640"/>
          </a:xfrm>
          <a:prstGeom prst="rect">
            <a:avLst/>
          </a:prstGeom>
          <a:solidFill>
            <a:srgbClr val="161B22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5715000"/>
            <a:ext cx="73152" cy="548640"/>
          </a:xfrm>
          <a:prstGeom prst="rect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576072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82CFFF"/>
                </a:solidFill>
                <a:latin typeface="Calibri"/>
              </a:rPr>
              <a:t>THE 5% RULE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20240" y="57607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5% generation  ·  25% planning  ·  40% iteration  ·  15% assets  ·  15% management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787"/>
                </a:solidFill>
                <a:latin typeface="Calibri"/>
              </a:rPr>
              <a:t>Open Production · Production-Document-First Creative Studio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78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463040" cy="20116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OPEN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6576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2CFFF"/>
                </a:solidFill>
                <a:latin typeface="Calibri"/>
              </a:rPr>
              <a:t>·  VISION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After the prototype, this is where Open Production goes.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74552" cy="8000"/>
          </a:xfrm>
          <a:prstGeom prst="rect">
            <a:avLst/>
          </a:prstGeom>
          <a:solidFill>
            <a:srgbClr val="2A3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A8B3C5"/>
                </a:solidFill>
                <a:latin typeface="Calibri"/>
              </a:rPr>
              <a:t>Today's submission is the kernel + one production-doc vertical. The roadmap extends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2788920" cy="3749039"/>
          </a:xfrm>
          <a:prstGeom prst="rect">
            <a:avLst/>
          </a:prstGeom>
          <a:solidFill>
            <a:srgbClr val="161B22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2788920" cy="10972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62FE"/>
                </a:solidFill>
                <a:latin typeface="Calibri"/>
              </a:rPr>
              <a:t>0–6 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00400"/>
            <a:ext cx="2423160" cy="6000"/>
          </a:xfrm>
          <a:prstGeom prst="rect">
            <a:avLst/>
          </a:prstGeom>
          <a:solidFill>
            <a:srgbClr val="2A3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3474720"/>
            <a:ext cx="73152" cy="73152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Production document data model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977640"/>
            <a:ext cx="73152" cy="73152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Director's Canvas + Guided Flow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480560"/>
            <a:ext cx="73152" cy="73152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3891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5 core agents · single generation backend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983480"/>
            <a:ext cx="73152" cy="73152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Immutable event log + version snapshots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64992" y="2331720"/>
            <a:ext cx="2788920" cy="3749039"/>
          </a:xfrm>
          <a:prstGeom prst="rect">
            <a:avLst/>
          </a:prstGeom>
          <a:solidFill>
            <a:srgbClr val="161B22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64992" y="2331720"/>
            <a:ext cx="2788920" cy="109728"/>
          </a:xfrm>
          <a:prstGeom prst="rect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25603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288036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2CFFF"/>
                </a:solidFill>
                <a:latin typeface="Calibri"/>
              </a:rPr>
              <a:t>6–12 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47872" y="3200400"/>
            <a:ext cx="2423160" cy="6000"/>
          </a:xfrm>
          <a:prstGeom prst="rect">
            <a:avLst/>
          </a:prstGeom>
          <a:solidFill>
            <a:srgbClr val="2A3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547872" y="3474720"/>
            <a:ext cx="73152" cy="73152"/>
          </a:xfrm>
          <a:prstGeom prst="ellipse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85032" y="33832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Full 26-stage video pipeline</a:t>
            </a:r>
          </a:p>
        </p:txBody>
      </p:sp>
      <p:sp>
        <p:nvSpPr>
          <p:cNvPr id="29" name="Oval 28"/>
          <p:cNvSpPr/>
          <p:nvPr/>
        </p:nvSpPr>
        <p:spPr>
          <a:xfrm>
            <a:off x="3547872" y="3977640"/>
            <a:ext cx="73152" cy="73152"/>
          </a:xfrm>
          <a:prstGeom prst="ellipse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85032" y="38862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All 12 agents</a:t>
            </a:r>
          </a:p>
        </p:txBody>
      </p:sp>
      <p:sp>
        <p:nvSpPr>
          <p:cNvPr id="31" name="Oval 30"/>
          <p:cNvSpPr/>
          <p:nvPr/>
        </p:nvSpPr>
        <p:spPr>
          <a:xfrm>
            <a:off x="3547872" y="4480560"/>
            <a:ext cx="73152" cy="73152"/>
          </a:xfrm>
          <a:prstGeom prst="ellipse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85032" y="43891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Consistency Contract system</a:t>
            </a:r>
          </a:p>
        </p:txBody>
      </p:sp>
      <p:sp>
        <p:nvSpPr>
          <p:cNvPr id="33" name="Oval 32"/>
          <p:cNvSpPr/>
          <p:nvPr/>
        </p:nvSpPr>
        <p:spPr>
          <a:xfrm>
            <a:off x="3547872" y="4983480"/>
            <a:ext cx="73152" cy="73152"/>
          </a:xfrm>
          <a:prstGeom prst="ellipse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85032" y="48920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Timeline editor · version branching · studio library</a:t>
            </a:r>
          </a:p>
        </p:txBody>
      </p:sp>
      <p:sp>
        <p:nvSpPr>
          <p:cNvPr id="35" name="Oval 34"/>
          <p:cNvSpPr/>
          <p:nvPr/>
        </p:nvSpPr>
        <p:spPr>
          <a:xfrm>
            <a:off x="3547872" y="5486400"/>
            <a:ext cx="73152" cy="73152"/>
          </a:xfrm>
          <a:prstGeom prst="ellipse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85032" y="53949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Plugin API: backends + export formats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72784" y="2331720"/>
            <a:ext cx="2788920" cy="3749039"/>
          </a:xfrm>
          <a:prstGeom prst="rect">
            <a:avLst/>
          </a:prstGeom>
          <a:solidFill>
            <a:srgbClr val="161B22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72784" y="2331720"/>
            <a:ext cx="2788920" cy="109728"/>
          </a:xfrm>
          <a:prstGeom prst="rect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55664" y="25603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COLLABORATION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55664" y="288036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2CFFF"/>
                </a:solidFill>
                <a:latin typeface="Calibri"/>
              </a:rPr>
              <a:t>12–18 mo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55664" y="3200400"/>
            <a:ext cx="2423160" cy="6000"/>
          </a:xfrm>
          <a:prstGeom prst="rect">
            <a:avLst/>
          </a:prstGeom>
          <a:solidFill>
            <a:srgbClr val="2A3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55664" y="3474720"/>
            <a:ext cx="73152" cy="73152"/>
          </a:xfrm>
          <a:prstGeom prst="ellipse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2824" y="33832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Real-time multi-user production state</a:t>
            </a:r>
          </a:p>
        </p:txBody>
      </p:sp>
      <p:sp>
        <p:nvSpPr>
          <p:cNvPr id="44" name="Oval 43"/>
          <p:cNvSpPr/>
          <p:nvPr/>
        </p:nvSpPr>
        <p:spPr>
          <a:xfrm>
            <a:off x="6455664" y="3977640"/>
            <a:ext cx="73152" cy="73152"/>
          </a:xfrm>
          <a:prstGeom prst="ellipse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92824" y="38862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Role-based access (Director, Producer, Reviewer)</a:t>
            </a:r>
          </a:p>
        </p:txBody>
      </p:sp>
      <p:sp>
        <p:nvSpPr>
          <p:cNvPr id="46" name="Oval 45"/>
          <p:cNvSpPr/>
          <p:nvPr/>
        </p:nvSpPr>
        <p:spPr>
          <a:xfrm>
            <a:off x="6455664" y="4480560"/>
            <a:ext cx="73152" cy="73152"/>
          </a:xfrm>
          <a:prstGeom prst="ellipse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92824" y="43891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Brand kit enforcement</a:t>
            </a:r>
          </a:p>
        </p:txBody>
      </p:sp>
      <p:sp>
        <p:nvSpPr>
          <p:cNvPr id="48" name="Oval 47"/>
          <p:cNvSpPr/>
          <p:nvPr/>
        </p:nvSpPr>
        <p:spPr>
          <a:xfrm>
            <a:off x="6455664" y="4983480"/>
            <a:ext cx="73152" cy="73152"/>
          </a:xfrm>
          <a:prstGeom prst="ellipse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92824" y="48920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Tamper-evident enterprise audit trail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80576" y="2331720"/>
            <a:ext cx="2788920" cy="3749039"/>
          </a:xfrm>
          <a:prstGeom prst="rect">
            <a:avLst/>
          </a:prstGeom>
          <a:solidFill>
            <a:srgbClr val="161B22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80576" y="2331720"/>
            <a:ext cx="2788920" cy="109728"/>
          </a:xfrm>
          <a:prstGeom prst="rect">
            <a:avLst/>
          </a:prstGeom>
          <a:solidFill>
            <a:srgbClr val="EE5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63456" y="25603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INTELLIGENCE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63456" y="288036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E5396"/>
                </a:solidFill>
                <a:latin typeface="Calibri"/>
              </a:rPr>
              <a:t>18–30+ mo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63456" y="3200400"/>
            <a:ext cx="2423160" cy="6000"/>
          </a:xfrm>
          <a:prstGeom prst="rect">
            <a:avLst/>
          </a:prstGeom>
          <a:solidFill>
            <a:srgbClr val="2A3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363456" y="3474720"/>
            <a:ext cx="73152" cy="73152"/>
          </a:xfrm>
          <a:prstGeom prst="ellipse">
            <a:avLst/>
          </a:prstGeom>
          <a:solidFill>
            <a:srgbClr val="EE5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00616" y="33832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Production memory — the studio's evolving aesthetic</a:t>
            </a:r>
          </a:p>
        </p:txBody>
      </p:sp>
      <p:sp>
        <p:nvSpPr>
          <p:cNvPr id="57" name="Oval 56"/>
          <p:cNvSpPr/>
          <p:nvPr/>
        </p:nvSpPr>
        <p:spPr>
          <a:xfrm>
            <a:off x="9363456" y="3977640"/>
            <a:ext cx="73152" cy="73152"/>
          </a:xfrm>
          <a:prstGeom prst="ellipse">
            <a:avLst/>
          </a:prstGeom>
          <a:solidFill>
            <a:srgbClr val="EE5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00616" y="38862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Automatic consistency detection</a:t>
            </a:r>
          </a:p>
        </p:txBody>
      </p:sp>
      <p:sp>
        <p:nvSpPr>
          <p:cNvPr id="59" name="Oval 58"/>
          <p:cNvSpPr/>
          <p:nvPr/>
        </p:nvSpPr>
        <p:spPr>
          <a:xfrm>
            <a:off x="9363456" y="4480560"/>
            <a:ext cx="73152" cy="73152"/>
          </a:xfrm>
          <a:prstGeom prst="ellipse">
            <a:avLst/>
          </a:prstGeom>
          <a:solidFill>
            <a:srgbClr val="EE5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00616" y="43891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Cross-production asset discovery</a:t>
            </a:r>
          </a:p>
        </p:txBody>
      </p:sp>
      <p:sp>
        <p:nvSpPr>
          <p:cNvPr id="61" name="Oval 60"/>
          <p:cNvSpPr/>
          <p:nvPr/>
        </p:nvSpPr>
        <p:spPr>
          <a:xfrm>
            <a:off x="9363456" y="4983480"/>
            <a:ext cx="73152" cy="73152"/>
          </a:xfrm>
          <a:prstGeom prst="ellipse">
            <a:avLst/>
          </a:prstGeom>
          <a:solidFill>
            <a:srgbClr val="EE5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00616" y="48920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AI-directed iteration (specific change, not 'try again')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6263640"/>
            <a:ext cx="11274552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2A35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7200" y="6263640"/>
            <a:ext cx="73152" cy="457200"/>
          </a:xfrm>
          <a:prstGeom prst="rect">
            <a:avLst/>
          </a:prstGeom>
          <a:solidFill>
            <a:srgbClr val="82C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7240" y="6263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THE BET  —  Whoever captures the production process wins the next decade of creative tooling.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787"/>
                </a:solidFill>
                <a:latin typeface="Calibri"/>
              </a:rPr>
              <a:t>Open Production · Production-Document-First Creative Studio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274552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78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