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C9F2"/>
                </a:solidFill>
                <a:latin typeface="JetBrains Mono"/>
              </a:rPr>
              <a:t>OPEN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3B6"/>
                </a:solidFill>
                <a:latin typeface="JetBrains Mono"/>
              </a:rPr>
              <a:t>01 /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11274552" cy="0"/>
          </a:xfrm>
          <a:prstGeom prst="line">
            <a:avLst/>
          </a:prstGeom>
          <a:ln w="6350">
            <a:solidFill>
              <a:srgbClr val="1F2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01 -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873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3B6"/>
                </a:solidFill>
                <a:latin typeface="JetBrains Mono"/>
              </a:rPr>
              <a:t>deck v0.1 - Boris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Inter"/>
              </a:rPr>
              <a:t>How Open Production works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AA3B6"/>
                </a:solidFill>
                <a:latin typeface="Inter"/>
              </a:rPr>
              <a:t>Two surfaces, one kernel. The user lands on the homepage; the kernel runs the 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C9F2"/>
                </a:solidFill>
                <a:latin typeface="JetBrains Mono"/>
              </a:rPr>
              <a:t>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11274552" cy="822960"/>
          </a:xfrm>
          <a:prstGeom prst="roundRect">
            <a:avLst/>
          </a:prstGeom>
          <a:solidFill>
            <a:srgbClr val="11182C"/>
          </a:solidFill>
          <a:ln w="12700">
            <a:solidFill>
              <a:srgbClr val="7A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3B6"/>
                </a:solidFill>
                <a:latin typeface="JetBrains Mono"/>
              </a:rPr>
              <a:t>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Inter"/>
              </a:rPr>
              <a:t>Student writing a thesis - journalist drafting a piece - educator building materials - creator exploring angles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2514600" cy="292608"/>
          </a:xfrm>
          <a:prstGeom prst="roundRect">
            <a:avLst/>
          </a:prstGeom>
          <a:solidFill>
            <a:srgbClr val="182236"/>
          </a:solidFill>
          <a:ln w="9525">
            <a:solidFill>
              <a:srgbClr val="B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B89CFF"/>
                </a:solidFill>
                <a:latin typeface="JetBrains Mono"/>
              </a:rPr>
              <a:t>thesis deadline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80360"/>
            <a:ext cx="2514600" cy="292608"/>
          </a:xfrm>
          <a:prstGeom prst="roundRect">
            <a:avLst/>
          </a:prstGeom>
          <a:solidFill>
            <a:srgbClr val="182236"/>
          </a:solidFill>
          <a:ln w="9525">
            <a:solidFill>
              <a:srgbClr val="B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B89CFF"/>
                </a:solidFill>
                <a:latin typeface="JetBrains Mono"/>
              </a:rPr>
              <a:t>needs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880360"/>
            <a:ext cx="2514600" cy="292608"/>
          </a:xfrm>
          <a:prstGeom prst="roundRect">
            <a:avLst/>
          </a:prstGeom>
          <a:solidFill>
            <a:srgbClr val="182236"/>
          </a:solidFill>
          <a:ln w="9525">
            <a:solidFill>
              <a:srgbClr val="B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B89CFF"/>
                </a:solidFill>
                <a:latin typeface="JetBrains Mono"/>
              </a:rPr>
              <a:t>exploring angles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880360"/>
            <a:ext cx="2514600" cy="292608"/>
          </a:xfrm>
          <a:prstGeom prst="roundRect">
            <a:avLst/>
          </a:prstGeom>
          <a:solidFill>
            <a:srgbClr val="182236"/>
          </a:solidFill>
          <a:ln w="9525">
            <a:solidFill>
              <a:srgbClr val="B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B89CFF"/>
                </a:solidFill>
                <a:latin typeface="JetBrains Mono"/>
              </a:rPr>
              <a:t>audit trail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154680"/>
            <a:ext cx="0" cy="301752"/>
          </a:xfrm>
          <a:prstGeom prst="line">
            <a:avLst/>
          </a:prstGeom>
          <a:ln w="25400">
            <a:solidFill>
              <a:srgbClr val="7AC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584448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C9F2"/>
                </a:solidFill>
                <a:latin typeface="JetBrains Mono"/>
              </a:rPr>
              <a:t>FRONTEND  +  CLI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5486400" cy="2331720"/>
          </a:xfrm>
          <a:prstGeom prst="roundRect">
            <a:avLst/>
          </a:prstGeom>
          <a:solidFill>
            <a:srgbClr val="11182C"/>
          </a:solidFill>
          <a:ln w="12700">
            <a:solidFill>
              <a:srgbClr val="B8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502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9CFF"/>
                </a:solidFill>
                <a:latin typeface="JetBrains Mono"/>
              </a:rPr>
              <a:t>Landing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D:\openclaw\creative-platform-design\landing\index.html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Inter"/>
              </a:rPr>
              <a:t>Hero with prompt input -&gt; 5 primitives grid -&gt; 3-step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Inter"/>
              </a:rPr>
              <a:t>Live-studio mockup with animated pulse indicator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Inter"/>
              </a:rPr>
              <a:t>Composition DAG with SVG edges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AA3B6"/>
                </a:solidFill>
                <a:latin typeface="JetBrains Mono"/>
              </a:rPr>
              <a:t>Drop in a browser - no build, no deps.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840480"/>
            <a:ext cx="5486400" cy="2331720"/>
          </a:xfrm>
          <a:prstGeom prst="roundRect">
            <a:avLst/>
          </a:prstGeom>
          <a:solidFill>
            <a:srgbClr val="11182C"/>
          </a:solidFill>
          <a:ln w="12700">
            <a:solidFill>
              <a:srgbClr val="FFB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9502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B36B"/>
                </a:solidFill>
                <a:latin typeface="JetBrains Mono"/>
              </a:rPr>
              <a:t>Demo CLI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206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D:\IBM Project\Open_Production\scripts\run_demo.py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526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JetBrains Mono"/>
              </a:rPr>
              <a:t>$ make demo    -&gt;    3 angles - 5 audit entries - JSONL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983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Inter"/>
              </a:rPr>
              <a:t>51/51 tests passing - audit_trail.jsonl written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440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CF4"/>
                </a:solidFill>
                <a:latin typeface="Inter"/>
              </a:rPr>
              <a:t>Works offline - MockLLMClient, no API keys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58978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AA3B6"/>
                </a:solidFill>
                <a:latin typeface="JetBrains Mono"/>
              </a:rPr>
              <a:t>Auditable end-to-end - every gate decision logged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3B6"/>
                </a:solidFill>
                <a:latin typeface="JetBrains Mono"/>
              </a:rPr>
              <a:t>Below both surfaces: the medium-blind kernel (5 primitives - 3 fail-closed gates - reconciliation loop) - same code for both.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C9F2"/>
                </a:solidFill>
                <a:latin typeface="JetBrains Mono"/>
              </a:rPr>
              <a:t>OPEN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3B6"/>
                </a:solidFill>
                <a:latin typeface="JetBrains Mono"/>
              </a:rPr>
              <a:t>02 /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11274552" cy="0"/>
          </a:xfrm>
          <a:prstGeom prst="line">
            <a:avLst/>
          </a:prstGeom>
          <a:ln w="6350">
            <a:solidFill>
              <a:srgbClr val="1F2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02 - LANDING PAGE MOCKUP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873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3B6"/>
                </a:solidFill>
                <a:latin typeface="JetBrains Mono"/>
              </a:rPr>
              <a:t>deck v0.1 - Boris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11274552" cy="5486400"/>
          </a:xfrm>
          <a:prstGeom prst="roundRect">
            <a:avLst/>
          </a:prstGeom>
          <a:solidFill>
            <a:srgbClr val="050814"/>
          </a:solidFill>
          <a:ln w="12700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868680"/>
            <a:ext cx="11274552" cy="411480"/>
          </a:xfrm>
          <a:prstGeom prst="rect">
            <a:avLst/>
          </a:prstGeom>
          <a:solidFill>
            <a:srgbClr val="141828"/>
          </a:solidFill>
          <a:ln w="6350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0058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005840"/>
            <a:ext cx="109728" cy="109728"/>
          </a:xfrm>
          <a:prstGeom prst="ellipse">
            <a:avLst/>
          </a:prstGeom>
          <a:solidFill>
            <a:srgbClr val="FFB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1005840"/>
            <a:ext cx="109728" cy="109728"/>
          </a:xfrm>
          <a:prstGeom prst="ellipse">
            <a:avLst/>
          </a:prstGeom>
          <a:solidFill>
            <a:srgbClr val="86E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9784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3B6"/>
                </a:solidFill>
                <a:latin typeface="JetBrains Mono"/>
              </a:rPr>
              <a:t>openproduction.studio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97840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3B6"/>
                </a:solidFill>
                <a:latin typeface="Inter"/>
              </a:rPr>
              <a:t>Docs   Pricing  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C9F2"/>
                </a:solidFill>
                <a:latin typeface="JetBrains Mono"/>
              </a:rPr>
              <a:t>[OP]  OPEN PRODUCTION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011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8ECF4"/>
                </a:solidFill>
                <a:latin typeface="Inter"/>
              </a:rPr>
              <a:t>From intent to artifact,
for any medium.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23360"/>
            <a:ext cx="10607040" cy="868680"/>
          </a:xfrm>
          <a:prstGeom prst="roundRect">
            <a:avLst/>
          </a:prstGeom>
          <a:solidFill>
            <a:srgbClr val="101626"/>
          </a:solidFill>
          <a:ln w="12700">
            <a:solidFill>
              <a:srgbClr val="7A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60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AA3B6"/>
                </a:solidFill>
                <a:latin typeface="Inter"/>
              </a:rPr>
              <a:t>Make a 60-second explainer about how neural networks learn...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4160520"/>
            <a:ext cx="1645920" cy="594360"/>
          </a:xfrm>
          <a:prstGeom prst="roundRect">
            <a:avLst/>
          </a:prstGeom>
          <a:solidFill>
            <a:srgbClr val="7A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42976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  <a:latin typeface="Inter"/>
              </a:rPr>
              <a:t>&gt; Produce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66360"/>
            <a:ext cx="1965960" cy="36576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9AA3B6"/>
                </a:solidFill>
                <a:latin typeface="JetBrains Mono"/>
              </a:rPr>
              <a:t>[v]  video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166360"/>
            <a:ext cx="1965960" cy="36576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9AA3B6"/>
                </a:solidFill>
                <a:latin typeface="JetBrains Mono"/>
              </a:rPr>
              <a:t>[r]  research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5166360"/>
            <a:ext cx="1965960" cy="36576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9AA3B6"/>
                </a:solidFill>
                <a:latin typeface="JetBrains Mono"/>
              </a:rPr>
              <a:t>[&lt;&gt;] 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5166360"/>
            <a:ext cx="1965960" cy="36576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9AA3B6"/>
                </a:solidFill>
                <a:latin typeface="JetBrains Mono"/>
              </a:rPr>
              <a:t>[d] 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5166360"/>
            <a:ext cx="1965960" cy="36576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>
                <a:solidFill>
                  <a:srgbClr val="9AA3B6"/>
                </a:solidFill>
                <a:latin typeface="JetBrains Mono"/>
              </a:rPr>
              <a:t>[a]  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D6577"/>
                </a:solidFill>
                <a:latin typeface="JetBrains Mono"/>
              </a:rPr>
              <a:t>(full page: 5 primitives -&gt; 3-step flow -&gt; live-studio mockup -&gt; composition DAG -&gt; CTA)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C9F2"/>
                </a:solidFill>
                <a:latin typeface="JetBrains Mono"/>
              </a:rPr>
              <a:t>OPEN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3B6"/>
                </a:solidFill>
                <a:latin typeface="JetBrains Mono"/>
              </a:rPr>
              <a:t>03 /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"/>
            <a:ext cx="11274552" cy="0"/>
          </a:xfrm>
          <a:prstGeom prst="line">
            <a:avLst/>
          </a:prstGeom>
          <a:ln w="6350">
            <a:solidFill>
              <a:srgbClr val="1F29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03 - LIVE STUDIO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873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3B6"/>
                </a:solidFill>
                <a:latin typeface="JetBrains Mono"/>
              </a:rPr>
              <a:t>deck v0.1 - Boris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8ECF4"/>
                </a:solidFill>
                <a:latin typeface="Inter"/>
              </a:rPr>
              <a:t>The screen judges see in the 3-min demo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AA3B6"/>
                </a:solidFill>
                <a:latin typeface="Inter"/>
              </a:rPr>
              <a:t>Captured from `make demo`. Every event, every dollar, every gate decision on the wall.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74552" cy="45720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C9F2"/>
                </a:solidFill>
                <a:latin typeface="JetBrains Mono"/>
              </a:rPr>
              <a:t>&gt;  neural-networks-explainer-60s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3B6"/>
                </a:solidFill>
                <a:latin typeface="Inter"/>
              </a:rPr>
              <a:t>60s explainer - 12 scenes - est. $0.42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86E0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86E09C"/>
                </a:solidFill>
                <a:latin typeface="JetBrains Mono"/>
              </a:rPr>
              <a:t>[done]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86E0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86E09C"/>
                </a:solidFill>
                <a:latin typeface="JetBrains Mono"/>
              </a:rPr>
              <a:t>[done]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7A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7AC9F2"/>
                </a:solidFill>
                <a:latin typeface="JetBrains Mono"/>
              </a:rPr>
              <a:t>[..]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storyboard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9AA3B6"/>
                </a:solidFill>
                <a:latin typeface="JetBrains Mono"/>
              </a:rPr>
              <a:t>[  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9AA3B6"/>
                </a:solidFill>
                <a:latin typeface="JetBrains Mono"/>
              </a:rPr>
              <a:t>[  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D52"/>
                </a:solidFill>
                <a:latin typeface="JetBrains Mono"/>
              </a:rPr>
              <a:t>[!!]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9AA3B6"/>
                </a:solidFill>
                <a:latin typeface="JetBrains Mono"/>
              </a:rPr>
              <a:t>[  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2468880"/>
            <a:ext cx="1325880" cy="502920"/>
          </a:xfrm>
          <a:prstGeom prst="roundRect">
            <a:avLst/>
          </a:prstGeom>
          <a:solidFill>
            <a:srgbClr val="11182C"/>
          </a:solidFill>
          <a:ln w="9525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25146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8ECF4"/>
                </a:solidFill>
                <a:latin typeface="JetBrains Mono"/>
              </a:rPr>
              <a:t>evaluate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72491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9AA3B6"/>
                </a:solidFill>
                <a:latin typeface="JetBrains Mono"/>
              </a:rPr>
              <a:t>[ 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C9F2"/>
                </a:solidFill>
                <a:latin typeface="JetBrains Mono"/>
              </a:rPr>
              <a:t>STORYBOARD - 12 SCENES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86E0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Hook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6E09C"/>
                </a:solidFill>
                <a:latin typeface="JetBrains Mono"/>
              </a:rPr>
              <a:t>$0.02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80744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86E0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80744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72184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80744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80744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6E09C"/>
                </a:solidFill>
                <a:latin typeface="JetBrains Mono"/>
              </a:rPr>
              <a:t>$0.03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04288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7A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04288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95728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04288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Analogy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04288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7AC9F2"/>
                </a:solidFill>
                <a:latin typeface="JetBrains Mono"/>
              </a:rPr>
              <a:t>$0.04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27832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7A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27832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19272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27832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Neuron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27832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7AC9F2"/>
                </a:solidFill>
                <a:latin typeface="JetBrains Mono"/>
              </a:rPr>
              <a:t>$0.04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51376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7A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51376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42816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51376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51376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7AC9F2"/>
                </a:solidFill>
                <a:latin typeface="JetBrains Mono"/>
              </a:rPr>
              <a:t>$0.04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74920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74920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66359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4920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Training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74920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3B6"/>
                </a:solidFill>
                <a:latin typeface="JetBrains Mono"/>
              </a:rPr>
              <a:t>$0.05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98464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98464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9904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98464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Gradient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98464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3B6"/>
                </a:solidFill>
                <a:latin typeface="JetBrains Mono"/>
              </a:rPr>
              <a:t>$0.05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22008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22008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13448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22008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Backprop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22008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3B6"/>
                </a:solidFill>
                <a:latin typeface="JetBrains Mono"/>
              </a:rPr>
              <a:t>$0.04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45552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45552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36992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45552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Eval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45552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3B6"/>
                </a:solidFill>
                <a:latin typeface="JetBrains Mono"/>
              </a:rPr>
              <a:t>$0.04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769096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69096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60536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69096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Limits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69096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3B6"/>
                </a:solidFill>
                <a:latin typeface="JetBrains Mono"/>
              </a:rPr>
              <a:t>$0.04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692640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92640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84080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92640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Future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92640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3B6"/>
                </a:solidFill>
                <a:latin typeface="JetBrains Mono"/>
              </a:rPr>
              <a:t>$0.04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616184" y="3474720"/>
            <a:ext cx="905256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9AA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16184" y="3520439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9AA3B6"/>
                </a:solidFill>
                <a:latin typeface="JetBrains Mono"/>
              </a:rPr>
              <a:t>12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707624" y="3767328"/>
            <a:ext cx="722376" cy="502920"/>
          </a:xfrm>
          <a:prstGeom prst="rect">
            <a:avLst/>
          </a:prstGeom>
          <a:solidFill>
            <a:srgbClr val="18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16184" y="4315968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8ECF4"/>
                </a:solidFill>
                <a:latin typeface="Inter"/>
              </a:rPr>
              <a:t>Outro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16184" y="4507992"/>
            <a:ext cx="905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3B6"/>
                </a:solidFill>
                <a:latin typeface="JetBrains Mono"/>
              </a:rPr>
              <a:t>$0.03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4937760"/>
            <a:ext cx="11274552" cy="1280160"/>
          </a:xfrm>
          <a:prstGeom prst="roundRect">
            <a:avLst/>
          </a:prstGeom>
          <a:solidFill>
            <a:srgbClr val="11182C"/>
          </a:solidFill>
          <a:ln w="6350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C9F2"/>
                </a:solidFill>
                <a:latin typeface="JetBrains Mono"/>
              </a:rPr>
              <a:t>LIVE EVENTS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534924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17:31:04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63040" y="53492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6E09C"/>
                </a:solidFill>
                <a:latin typeface="JetBrains Mono"/>
              </a:rPr>
              <a:t>[ok]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920240" y="5349240"/>
            <a:ext cx="9601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4"/>
                </a:solidFill>
                <a:latin typeface="JetBrains Mono"/>
              </a:rPr>
              <a:t>voice-03.tts.wav committed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" y="5513831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17:31:09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63040" y="5513831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AC9F2"/>
                </a:solidFill>
                <a:latin typeface="JetBrains Mono"/>
              </a:rPr>
              <a:t>[..]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20240" y="5513831"/>
            <a:ext cx="9601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4"/>
                </a:solidFill>
                <a:latin typeface="JetBrains Mono"/>
              </a:rPr>
              <a:t>storyboard/03 generating asset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678424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17:31:12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63040" y="567842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AA3B6"/>
                </a:solidFill>
                <a:latin typeface="JetBrains Mono"/>
              </a:rPr>
              <a:t>[ok]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920240" y="5678424"/>
            <a:ext cx="9601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4"/>
                </a:solidFill>
                <a:latin typeface="JetBrains Mono"/>
              </a:rPr>
              <a:t>provider selected: gpt-image-1.5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5843016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17:31:14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63040" y="58430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B36B"/>
                </a:solidFill>
                <a:latin typeface="JetBrains Mono"/>
              </a:rPr>
              <a:t>[$]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20240" y="5843016"/>
            <a:ext cx="9601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4"/>
                </a:solidFill>
                <a:latin typeface="JetBrains Mono"/>
              </a:rPr>
              <a:t>spent $0.07 / est $0.42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" y="6007607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3B6"/>
                </a:solidFill>
                <a:latin typeface="JetBrains Mono"/>
              </a:rPr>
              <a:t>17:31:18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63040" y="6007607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AA3B6"/>
                </a:solidFill>
                <a:latin typeface="JetBrains Mono"/>
              </a:rPr>
              <a:t>[  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20240" y="6007607"/>
            <a:ext cx="9601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4"/>
                </a:solidFill>
                <a:latin typeface="JetBrains Mono"/>
              </a:rPr>
              <a:t>scene-04 queued for render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